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28" r:id="rId3"/>
    <p:sldId id="260" r:id="rId4"/>
    <p:sldId id="278" r:id="rId5"/>
    <p:sldId id="257" r:id="rId6"/>
    <p:sldId id="329" r:id="rId8"/>
    <p:sldId id="331" r:id="rId9"/>
    <p:sldId id="332" r:id="rId10"/>
    <p:sldId id="321" r:id="rId11"/>
    <p:sldId id="326" r:id="rId12"/>
    <p:sldId id="322" r:id="rId13"/>
    <p:sldId id="323" r:id="rId14"/>
    <p:sldId id="324" r:id="rId15"/>
    <p:sldId id="277" r:id="rId16"/>
    <p:sldId id="320" r:id="rId17"/>
    <p:sldId id="327" r:id="rId1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4" d="100"/>
          <a:sy n="84" d="100"/>
        </p:scale>
        <p:origin x="600" y="8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685800" y="0"/>
            <a:ext cx="7772400" cy="1201361"/>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br>
              <a:rPr lang="en-US" sz="18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a:t>
            </a:r>
            <a:br>
              <a:rPr lang="en-US" sz="1800" dirty="0">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Student Wellness &amp; Fitness Tracker</a:t>
            </a:r>
            <a:endParaRPr lang="en-US" sz="4000" b="1" dirty="0">
              <a:latin typeface="Times New Roman" panose="02020603050405020304" pitchFamily="18" charset="0"/>
              <a:cs typeface="Times New Roman" panose="02020603050405020304" pitchFamily="18" charset="0"/>
            </a:endParaRPr>
          </a:p>
        </p:txBody>
      </p:sp>
      <p:sp>
        <p:nvSpPr>
          <p:cNvPr id="5" name="Subtitle 2"/>
          <p:cNvSpPr txBox="1"/>
          <p:nvPr/>
        </p:nvSpPr>
        <p:spPr>
          <a:xfrm>
            <a:off x="342900" y="1143000"/>
            <a:ext cx="8458200" cy="2895600"/>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2600" b="1" dirty="0">
                <a:solidFill>
                  <a:srgbClr val="00B0F0"/>
                </a:solidFill>
                <a:latin typeface="Times New Roman" panose="02020603050405020304" pitchFamily="18" charset="0"/>
                <a:cs typeface="Times New Roman" panose="02020603050405020304" pitchFamily="18" charset="0"/>
              </a:rPr>
              <a:t>By</a:t>
            </a:r>
            <a:endParaRPr lang="en-US" sz="2600" b="1" dirty="0">
              <a:solidFill>
                <a:srgbClr val="00B0F0"/>
              </a:solidFill>
              <a:latin typeface="Times New Roman" panose="02020603050405020304" pitchFamily="18" charset="0"/>
              <a:cs typeface="Times New Roman" panose="02020603050405020304" pitchFamily="18" charset="0"/>
            </a:endParaRPr>
          </a:p>
          <a:p>
            <a:pPr algn="ctr">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V. Rukesh                        roll 2520030519</a:t>
            </a:r>
            <a:endParaRPr lang="en-US" sz="3300" dirty="0">
              <a:solidFill>
                <a:srgbClr val="0D0D0D"/>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300" dirty="0">
                <a:solidFill>
                  <a:srgbClr val="0D0D0D"/>
                </a:solidFill>
                <a:latin typeface="Times New Roman" panose="02020603050405020304" pitchFamily="18" charset="0"/>
                <a:cs typeface="Times New Roman" panose="02020603050405020304" pitchFamily="18" charset="0"/>
              </a:rPr>
              <a:t>Name  V. Satish                        roll 2520030302</a:t>
            </a:r>
            <a:endParaRPr lang="en-US" sz="3300" dirty="0">
              <a:solidFill>
                <a:srgbClr val="0D0D0D"/>
              </a:solidFill>
              <a:latin typeface="Times New Roman" panose="02020603050405020304" pitchFamily="18" charset="0"/>
              <a:cs typeface="Times New Roman" panose="02020603050405020304" pitchFamily="18" charset="0"/>
            </a:endParaRPr>
          </a:p>
          <a:p>
            <a:pPr marL="0" indent="0">
              <a:lnSpc>
                <a:spcPct val="80000"/>
              </a:lnSpc>
              <a:buNone/>
              <a:defRPr/>
            </a:pPr>
            <a:r>
              <a:rPr lang="en-US" sz="3600" b="1" dirty="0">
                <a:solidFill>
                  <a:srgbClr val="00B0F0"/>
                </a:solidFill>
                <a:latin typeface="Times New Roman" panose="02020603050405020304" pitchFamily="18" charset="0"/>
                <a:cs typeface="Times New Roman" panose="02020603050405020304" pitchFamily="18" charset="0"/>
              </a:rPr>
              <a:t>Team Number : 1</a:t>
            </a:r>
            <a:endParaRPr lang="en-US" sz="3600" b="1" dirty="0">
              <a:solidFill>
                <a:srgbClr val="00B0F0"/>
              </a:solidFill>
              <a:latin typeface="Times New Roman" panose="02020603050405020304" pitchFamily="18" charset="0"/>
              <a:cs typeface="Times New Roman" panose="02020603050405020304" pitchFamily="18" charset="0"/>
            </a:endParaRPr>
          </a:p>
          <a:p>
            <a:pPr marL="0" indent="0" algn="ctr">
              <a:lnSpc>
                <a:spcPct val="80000"/>
              </a:lnSpc>
              <a:buNone/>
              <a:defRPr/>
            </a:pPr>
            <a:endParaRPr lang="en-US" sz="3300" dirty="0">
              <a:solidFill>
                <a:srgbClr val="0D0D0D"/>
              </a:solidFill>
              <a:latin typeface="Times New Roman" panose="02020603050405020304" pitchFamily="18" charset="0"/>
              <a:cs typeface="Times New Roman" panose="02020603050405020304" pitchFamily="18" charset="0"/>
            </a:endParaRPr>
          </a:p>
          <a:p>
            <a:pPr algn="ctr">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GB" sz="3300" b="1" i="1" dirty="0">
                <a:solidFill>
                  <a:srgbClr val="FF0000"/>
                </a:solidFill>
                <a:latin typeface="Times New Roman" panose="02020603050405020304" pitchFamily="18" charset="0"/>
                <a:ea typeface="Times New Roman" panose="02020603050405020304" pitchFamily="18" charset="0"/>
              </a:rPr>
              <a:t>Under the guidance of </a:t>
            </a:r>
            <a:endParaRPr lang="en-GB" sz="3300" b="1" i="1" dirty="0">
              <a:solidFill>
                <a:srgbClr val="FF0000"/>
              </a:solidFill>
              <a:latin typeface="Times New Roman" panose="02020603050405020304" pitchFamily="18" charset="0"/>
              <a:ea typeface="Times New Roman" panose="02020603050405020304" pitchFamily="18" charset="0"/>
            </a:endParaRPr>
          </a:p>
          <a:p>
            <a:pPr marL="0" indent="0" algn="ctr">
              <a:lnSpc>
                <a:spcPct val="80000"/>
              </a:lnSpc>
              <a:buNone/>
              <a:defRPr/>
            </a:pPr>
            <a:endParaRPr lang="en-US" sz="2400" dirty="0">
              <a:solidFill>
                <a:srgbClr val="0D0D0D"/>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3400" b="1" dirty="0">
                <a:solidFill>
                  <a:srgbClr val="00B0F0"/>
                </a:solidFill>
                <a:latin typeface="Times New Roman" panose="02020603050405020304" pitchFamily="18" charset="0"/>
                <a:cs typeface="Times New Roman" panose="02020603050405020304" pitchFamily="18" charset="0"/>
              </a:rPr>
              <a:t>Ms. D.Pavithra Assistant Professor </a:t>
            </a:r>
            <a:endParaRPr lang="en-US" sz="3400" b="1" dirty="0">
              <a:solidFill>
                <a:srgbClr val="00B0F0"/>
              </a:solidFill>
              <a:latin typeface="Times New Roman" panose="02020603050405020304" pitchFamily="18" charset="0"/>
              <a:cs typeface="Times New Roman" panose="02020603050405020304" pitchFamily="18" charset="0"/>
            </a:endParaRPr>
          </a:p>
          <a:p>
            <a:pPr algn="ctr">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L="0" indent="0" algn="ctr">
              <a:lnSpc>
                <a:spcPct val="80000"/>
              </a:lnSpc>
              <a:buNone/>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4400" b="1" dirty="0">
              <a:solidFill>
                <a:srgbClr val="0070C0"/>
              </a:solidFill>
              <a:latin typeface="Times New Roman" panose="02020603050405020304" pitchFamily="18" charset="0"/>
              <a:cs typeface="Times New Roman" panose="02020603050405020304" pitchFamily="18" charset="0"/>
            </a:endParaRPr>
          </a:p>
          <a:p>
            <a:pPr marL="0" indent="0">
              <a:lnSpc>
                <a:spcPct val="80000"/>
              </a:lnSpc>
              <a:buNone/>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endParaRPr lang="en-US" sz="2400" dirty="0">
              <a:solidFill>
                <a:srgbClr val="0D0D0D"/>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06993" y="522517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014" y="3657600"/>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i="1" dirty="0">
                <a:solidFill>
                  <a:srgbClr val="0070C0"/>
                </a:solidFill>
                <a:latin typeface="Times New Roman" panose="02020603050405020304" pitchFamily="18" charset="0"/>
                <a:cs typeface="Times New Roman" panose="02020603050405020304" pitchFamily="18" charset="0"/>
              </a:rPr>
              <a:t>Outline of the Presentation</a:t>
            </a:r>
            <a:endParaRPr lang="en-US" sz="2800" b="1" i="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447801"/>
            <a:ext cx="8839200" cy="4678363"/>
          </a:xfrm>
        </p:spPr>
        <p:txBody>
          <a:bodyPr>
            <a:normAutofit/>
          </a:bodyPr>
          <a:lstStyle/>
          <a:p>
            <a:r>
              <a:rPr lang="en-US" sz="2400"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Project Flow Diagram</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Objectives with Justification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Modules[Frontend web pages]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Expected Outcomes of the Proposed Work</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Conclusion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1143000"/>
          </a:xfrm>
        </p:spPr>
        <p:txBody>
          <a:bodyPr>
            <a:normAutofit/>
          </a:bodyPr>
          <a:lstStyle/>
          <a:p>
            <a:r>
              <a:rPr lang="en-US" sz="4800" b="1" dirty="0">
                <a:solidFill>
                  <a:srgbClr val="0070C0"/>
                </a:solidFill>
                <a:latin typeface="Times New Roman" panose="02020603050405020304" pitchFamily="18" charset="0"/>
                <a:cs typeface="Times New Roman" panose="02020603050405020304" pitchFamily="18" charset="0"/>
              </a:rPr>
              <a:t>Abstract</a:t>
            </a:r>
            <a:endParaRPr lang="en-US" sz="4800" dirty="0"/>
          </a:p>
        </p:txBody>
      </p:sp>
      <p:sp>
        <p:nvSpPr>
          <p:cNvPr id="5" name="Content Placeholder 4"/>
          <p:cNvSpPr>
            <a:spLocks noGrp="1"/>
          </p:cNvSpPr>
          <p:nvPr>
            <p:ph idx="1"/>
          </p:nvPr>
        </p:nvSpPr>
        <p:spPr>
          <a:xfrm>
            <a:off x="-1385" y="1676400"/>
            <a:ext cx="9144000" cy="5715000"/>
          </a:xfrm>
        </p:spPr>
        <p:txBody>
          <a:bodyPr>
            <a:normAutofit/>
          </a:bodyPr>
          <a:lstStyle/>
          <a:p>
            <a:r>
              <a:rPr lang="en-IN" sz="2400" dirty="0"/>
              <a:t>Student Wellness &amp; Fitness Tracker is a web-based application designed to help students monitor and improve their physical and mental well-being. The system enables users to track daily fitness activities, water intake, sleep duration, calorie consumption, and mood status. By providing personalized insights and progress reports, the application encourages healthy habits and promotes a balanced lifestyle among students. The platform offers an intuitive interface for recording health-related data and visualizing progress through dashboards and charts. This project aims to increase health awareness, improve fitness management, and support students in maintaining overall wellness while balancing academic responsibilities.</a:t>
            </a:r>
            <a:endParaRPr lang="en-IN" sz="2400" dirty="0"/>
          </a:p>
          <a:p>
            <a:endParaRPr 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4800" b="1" dirty="0">
                <a:solidFill>
                  <a:srgbClr val="0070C0"/>
                </a:solidFill>
                <a:latin typeface="Times New Roman" panose="02020603050405020304" pitchFamily="18" charset="0"/>
                <a:cs typeface="Times New Roman" panose="02020603050405020304" pitchFamily="18" charset="0"/>
              </a:rPr>
              <a:t>Introduction</a:t>
            </a:r>
            <a:endParaRPr lang="en-US" sz="4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0" y="1600200"/>
            <a:ext cx="9067800" cy="5943600"/>
          </a:xfrm>
        </p:spPr>
        <p:txBody>
          <a:bodyPr>
            <a:normAutofit/>
          </a:bodyPr>
          <a:lstStyle/>
          <a:p>
            <a:r>
              <a:rPr lang="en-IN" sz="2400" dirty="0"/>
              <a:t>In today's academic environment, students often experience stress, irregular sleep patterns, poor dietary habits, and insufficient physical activity. These factors can negatively affect both academic performance and overall health. A Student Wellness &amp; Fitness Tracker provides a centralized platform where students can monitor various health parameters such as exercise routines, sleep schedules, hydration levels, calorie intake, and emotional well-being.</a:t>
            </a:r>
            <a:endParaRPr lang="en-IN" sz="2400" dirty="0"/>
          </a:p>
          <a:p>
            <a:r>
              <a:rPr lang="en-IN" sz="2400" dirty="0"/>
              <a:t>The system uses modern web technologies to collect and </a:t>
            </a:r>
            <a:r>
              <a:rPr lang="en-IN" sz="2400" dirty="0" err="1"/>
              <a:t>analyze</a:t>
            </a:r>
            <a:r>
              <a:rPr lang="en-IN" sz="2400" dirty="0"/>
              <a:t> user data, providing meaningful insights and recommendations. By encouraging self-monitoring and healthy lifestyle choices, the application helps students maintain physical fitness and mental wellness, ultimately contributing to improved productivity and quality of life.</a:t>
            </a:r>
            <a:endParaRPr lang="en-IN" sz="2400"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28600" y="1066800"/>
            <a:ext cx="4144010" cy="5715000"/>
          </a:xfrm>
          <a:prstGeom prst="rect">
            <a:avLst/>
          </a:prstGeom>
        </p:spPr>
      </p:pic>
      <p:pic>
        <p:nvPicPr>
          <p:cNvPr id="5" name="Picture 4"/>
          <p:cNvPicPr>
            <a:picLocks noChangeAspect="1"/>
          </p:cNvPicPr>
          <p:nvPr/>
        </p:nvPicPr>
        <p:blipFill>
          <a:blip r:embed="rId2"/>
          <a:stretch>
            <a:fillRect/>
          </a:stretch>
        </p:blipFill>
        <p:spPr>
          <a:xfrm>
            <a:off x="4617085" y="1066800"/>
            <a:ext cx="4288790" cy="5737860"/>
          </a:xfrm>
          <a:prstGeom prst="rect">
            <a:avLst/>
          </a:prstGeom>
        </p:spPr>
      </p:pic>
      <p:sp>
        <p:nvSpPr>
          <p:cNvPr id="6" name="Text Box 5"/>
          <p:cNvSpPr txBox="1"/>
          <p:nvPr/>
        </p:nvSpPr>
        <p:spPr>
          <a:xfrm>
            <a:off x="2057400" y="152400"/>
            <a:ext cx="5337810" cy="660400"/>
          </a:xfrm>
          <a:prstGeom prst="rect">
            <a:avLst/>
          </a:prstGeom>
          <a:noFill/>
        </p:spPr>
        <p:txBody>
          <a:bodyPr wrap="square" rtlCol="0">
            <a:noAutofit/>
          </a:bodyPr>
          <a:p>
            <a:pPr algn="ctr"/>
            <a:r>
              <a:rPr lang="en-GB" altLang="en-US" sz="3600"/>
              <a:t>CO Wise Mapping </a:t>
            </a:r>
            <a:endParaRPr lang="en-GB" altLang="en-US" sz="3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28600" y="152400"/>
            <a:ext cx="4133215" cy="5608955"/>
          </a:xfrm>
          <a:prstGeom prst="rect">
            <a:avLst/>
          </a:prstGeom>
        </p:spPr>
      </p:pic>
      <p:pic>
        <p:nvPicPr>
          <p:cNvPr id="5" name="Picture 4"/>
          <p:cNvPicPr>
            <a:picLocks noChangeAspect="1"/>
          </p:cNvPicPr>
          <p:nvPr/>
        </p:nvPicPr>
        <p:blipFill>
          <a:blip r:embed="rId2"/>
          <a:stretch>
            <a:fillRect/>
          </a:stretch>
        </p:blipFill>
        <p:spPr>
          <a:xfrm>
            <a:off x="4572000" y="714375"/>
            <a:ext cx="4391660" cy="57734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28600" y="152400"/>
            <a:ext cx="3958590" cy="5429885"/>
          </a:xfrm>
          <a:prstGeom prst="rect">
            <a:avLst/>
          </a:prstGeom>
        </p:spPr>
      </p:pic>
      <p:pic>
        <p:nvPicPr>
          <p:cNvPr id="5" name="Picture 4"/>
          <p:cNvPicPr>
            <a:picLocks noChangeAspect="1"/>
          </p:cNvPicPr>
          <p:nvPr/>
        </p:nvPicPr>
        <p:blipFill>
          <a:blip r:embed="rId2"/>
          <a:stretch>
            <a:fillRect/>
          </a:stretch>
        </p:blipFill>
        <p:spPr>
          <a:xfrm>
            <a:off x="4667885" y="661035"/>
            <a:ext cx="4285615" cy="60255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5966"/>
            <a:ext cx="8229600" cy="1143000"/>
          </a:xfrm>
        </p:spPr>
        <p:txBody>
          <a:bodyPr>
            <a:normAutofit/>
          </a:bodyPr>
          <a:lstStyle/>
          <a:p>
            <a:r>
              <a:rPr lang="en-US" sz="4800" b="1" dirty="0">
                <a:solidFill>
                  <a:srgbClr val="0070C0"/>
                </a:solidFill>
                <a:latin typeface="Times New Roman" panose="02020603050405020304" pitchFamily="18" charset="0"/>
                <a:cs typeface="Times New Roman" panose="02020603050405020304" pitchFamily="18" charset="0"/>
              </a:rPr>
              <a:t>Problem Statement</a:t>
            </a:r>
            <a:endParaRPr lang="en-US" sz="4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8100" y="1981200"/>
            <a:ext cx="9067800" cy="5592761"/>
          </a:xfrm>
        </p:spPr>
        <p:txBody>
          <a:bodyPr>
            <a:normAutofit/>
          </a:bodyPr>
          <a:lstStyle/>
          <a:p>
            <a:r>
              <a:rPr lang="en-IN" sz="2000" dirty="0"/>
              <a:t>Many students struggle to maintain healthy lifestyles due to busy schedules, academic pressure, and lack of awareness about their health habits. Existing fitness applications are often designed for general users and may not address the specific wellness needs of students.</a:t>
            </a:r>
            <a:endParaRPr lang="en-IN" sz="2000" dirty="0"/>
          </a:p>
          <a:p>
            <a:r>
              <a:rPr lang="en-IN" sz="2000" dirty="0"/>
              <a:t>The proposed Student Wellness &amp; Fitness Tracker aims to provide a dedicated platform where students can:</a:t>
            </a:r>
            <a:endParaRPr lang="en-IN" sz="2000" dirty="0"/>
          </a:p>
          <a:p>
            <a:endParaRPr lang="en-IN" sz="2000" dirty="0"/>
          </a:p>
          <a:p>
            <a:r>
              <a:rPr lang="en-IN" sz="2000" dirty="0"/>
              <a:t>Track daily fitness activities. </a:t>
            </a:r>
            <a:endParaRPr lang="en-IN" sz="2000" dirty="0"/>
          </a:p>
          <a:p>
            <a:r>
              <a:rPr lang="en-IN" sz="2000" dirty="0"/>
              <a:t>Monitor sleep and hydration habits. </a:t>
            </a:r>
            <a:endParaRPr lang="en-IN" sz="2000" dirty="0"/>
          </a:p>
          <a:p>
            <a:r>
              <a:rPr lang="en-IN" sz="2000" dirty="0"/>
              <a:t>Record calorie intake and nutrition details. </a:t>
            </a:r>
            <a:endParaRPr lang="en-IN" sz="2000" dirty="0"/>
          </a:p>
          <a:p>
            <a:r>
              <a:rPr lang="en-IN" sz="2000" dirty="0"/>
              <a:t>Assess mental wellness through mood tracking. </a:t>
            </a:r>
            <a:endParaRPr lang="en-IN" sz="2000" dirty="0"/>
          </a:p>
          <a:p>
            <a:r>
              <a:rPr lang="en-IN" sz="2000" dirty="0"/>
              <a:t>View personalized health reports and recommendations.</a:t>
            </a:r>
            <a:endParaRPr lang="en-IN" sz="2000" dirty="0"/>
          </a:p>
          <a:p>
            <a:endParaRPr lang="en-US"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40000"/>
          </a:bodyPr>
          <a:lstStyle/>
          <a:p>
            <a:pPr marL="0" indent="0">
              <a:buNone/>
            </a:pPr>
            <a:r>
              <a:rPr lang="en-US" altLang="en-US" dirty="0"/>
              <a:t>Student Registration/Login</a:t>
            </a:r>
            <a:endParaRPr lang="en-US" altLang="en-US" dirty="0"/>
          </a:p>
          <a:p>
            <a:pPr marL="0" indent="0">
              <a:buNone/>
            </a:pPr>
            <a:r>
              <a:rPr lang="en-US" altLang="en-US" dirty="0"/>
              <a:t>           ↓</a:t>
            </a:r>
            <a:endParaRPr lang="en-US" altLang="en-US" dirty="0"/>
          </a:p>
          <a:p>
            <a:pPr marL="0" indent="0">
              <a:buNone/>
            </a:pPr>
            <a:r>
              <a:rPr lang="en-US" altLang="en-US" dirty="0"/>
              <a:t>Set Health Goals (e.g., weight, steps, sleep)</a:t>
            </a:r>
            <a:endParaRPr lang="en-US" altLang="en-US" dirty="0"/>
          </a:p>
          <a:p>
            <a:pPr marL="0" indent="0">
              <a:buNone/>
            </a:pPr>
            <a:r>
              <a:rPr lang="en-US" altLang="en-US" dirty="0"/>
              <a:t>           ↓</a:t>
            </a:r>
            <a:endParaRPr lang="en-US" altLang="en-US" dirty="0"/>
          </a:p>
          <a:p>
            <a:pPr marL="0" indent="0">
              <a:buNone/>
            </a:pPr>
            <a:r>
              <a:rPr lang="en-US" altLang="en-US" dirty="0"/>
              <a:t>Select Activity Type (e.g., Yoga, Cardio, Strength)</a:t>
            </a:r>
            <a:endParaRPr lang="en-US" altLang="en-US" dirty="0"/>
          </a:p>
          <a:p>
            <a:pPr marL="0" indent="0">
              <a:buNone/>
            </a:pPr>
            <a:r>
              <a:rPr lang="en-US" altLang="en-US" dirty="0"/>
              <a:t>           ↓</a:t>
            </a:r>
            <a:endParaRPr lang="en-US" altLang="en-US" dirty="0"/>
          </a:p>
          <a:p>
            <a:pPr marL="0" indent="0">
              <a:buNone/>
            </a:pPr>
            <a:r>
              <a:rPr lang="en-US" altLang="en-US" dirty="0"/>
              <a:t>View Recommended Workout Plans</a:t>
            </a:r>
            <a:endParaRPr lang="en-US" altLang="en-US" dirty="0"/>
          </a:p>
          <a:p>
            <a:pPr marL="0" indent="0">
              <a:buNone/>
            </a:pPr>
            <a:r>
              <a:rPr lang="en-US" altLang="en-US" dirty="0"/>
              <a:t>           ↓</a:t>
            </a:r>
            <a:endParaRPr lang="en-US" altLang="en-US" dirty="0"/>
          </a:p>
          <a:p>
            <a:pPr marL="0" indent="0">
              <a:buNone/>
            </a:pPr>
            <a:r>
              <a:rPr lang="en-US" altLang="en-US" dirty="0"/>
              <a:t>Log Daily Activity / Track Progress</a:t>
            </a:r>
            <a:endParaRPr lang="en-US" altLang="en-US" dirty="0"/>
          </a:p>
          <a:p>
            <a:pPr marL="0" indent="0">
              <a:buNone/>
            </a:pPr>
            <a:r>
              <a:rPr lang="en-US" altLang="en-US" dirty="0"/>
              <a:t>           ↓</a:t>
            </a:r>
            <a:endParaRPr lang="en-US" altLang="en-US" dirty="0"/>
          </a:p>
          <a:p>
            <a:pPr marL="0" indent="0">
              <a:buNone/>
            </a:pPr>
            <a:r>
              <a:rPr lang="en-US" altLang="en-US" dirty="0"/>
              <a:t>Receive Instant Feedback (e.g., calories burned)</a:t>
            </a:r>
            <a:endParaRPr lang="en-US" altLang="en-US" dirty="0"/>
          </a:p>
          <a:p>
            <a:pPr marL="0" indent="0">
              <a:buNone/>
            </a:pPr>
            <a:r>
              <a:rPr lang="en-US" altLang="en-US" dirty="0"/>
              <a:t>           ↓</a:t>
            </a:r>
            <a:endParaRPr lang="en-US" altLang="en-US" dirty="0"/>
          </a:p>
          <a:p>
            <a:pPr marL="0" indent="0">
              <a:buNone/>
            </a:pPr>
            <a:r>
              <a:rPr lang="en-US" altLang="en-US" dirty="0"/>
              <a:t>Wellness Reminder (e.g., drink water, stretch, sleep)</a:t>
            </a:r>
            <a:endParaRPr lang="en-US" altLang="en-US" dirty="0"/>
          </a:p>
          <a:p>
            <a:pPr marL="0" indent="0">
              <a:buNone/>
            </a:pPr>
            <a:r>
              <a:rPr lang="en-US" altLang="en-US" dirty="0"/>
              <a:t>           ↓</a:t>
            </a:r>
            <a:endParaRPr lang="en-US" altLang="en-US" dirty="0"/>
          </a:p>
          <a:p>
            <a:pPr marL="0" indent="0">
              <a:buNone/>
            </a:pPr>
            <a:r>
              <a:rPr lang="en-US" altLang="en-US" dirty="0"/>
              <a:t>Self-Checkin (mood, energy, stress level)</a:t>
            </a:r>
            <a:endParaRPr lang="en-US" altLang="en-US" dirty="0"/>
          </a:p>
          <a:p>
            <a:pPr marL="0" indent="0">
              <a:buNone/>
            </a:pPr>
            <a:r>
              <a:rPr lang="en-US" altLang="en-US" dirty="0"/>
              <a:t>           ↓</a:t>
            </a:r>
            <a:endParaRPr lang="en-US" altLang="en-US" dirty="0"/>
          </a:p>
          <a:p>
            <a:pPr marL="0" indent="0">
              <a:buNone/>
            </a:pPr>
            <a:r>
              <a:rPr lang="en-US" altLang="en-US" dirty="0"/>
              <a:t>Progress History Stored</a:t>
            </a:r>
            <a:endParaRPr lang="en-US" alt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4000"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graphicFrame>
        <p:nvGraphicFramePr>
          <p:cNvPr id="3" name="Content Placeholder 2"/>
          <p:cNvGraphicFramePr>
            <a:graphicFrameLocks noGrp="1"/>
          </p:cNvGraphicFramePr>
          <p:nvPr>
            <p:ph idx="1"/>
          </p:nvPr>
        </p:nvGraphicFramePr>
        <p:xfrm>
          <a:off x="228600" y="960439"/>
          <a:ext cx="8839200" cy="5971968"/>
        </p:xfrm>
        <a:graphic>
          <a:graphicData uri="http://schemas.openxmlformats.org/drawingml/2006/table">
            <a:tbl>
              <a:tblPr/>
              <a:tblGrid>
                <a:gridCol w="4419600"/>
                <a:gridCol w="4419600"/>
              </a:tblGrid>
              <a:tr h="397137">
                <a:tc>
                  <a:txBody>
                    <a:bodyPr/>
                    <a:lstStyle/>
                    <a:p>
                      <a:pPr>
                        <a:buNone/>
                      </a:pPr>
                      <a:r>
                        <a:rPr lang="en-IN" sz="2400" b="1" i="1" dirty="0"/>
                        <a:t>Objective</a:t>
                      </a:r>
                      <a:endParaRPr lang="en-IN" sz="2400" b="1" i="1" dirty="0"/>
                    </a:p>
                  </a:txBody>
                  <a:tcPr anchor="ctr">
                    <a:lnL>
                      <a:noFill/>
                    </a:lnL>
                    <a:lnR>
                      <a:noFill/>
                    </a:lnR>
                    <a:lnT>
                      <a:noFill/>
                    </a:lnT>
                    <a:lnB>
                      <a:noFill/>
                    </a:lnB>
                    <a:noFill/>
                  </a:tcPr>
                </a:tc>
                <a:tc>
                  <a:txBody>
                    <a:bodyPr/>
                    <a:lstStyle/>
                    <a:p>
                      <a:pPr>
                        <a:buNone/>
                      </a:pPr>
                      <a:r>
                        <a:rPr lang="en-IN" sz="2400" b="1" i="1" dirty="0"/>
                        <a:t>Justification</a:t>
                      </a:r>
                      <a:endParaRPr lang="en-IN" sz="2400" b="1" i="1" dirty="0"/>
                    </a:p>
                  </a:txBody>
                  <a:tcPr anchor="ctr">
                    <a:lnL>
                      <a:noFill/>
                    </a:lnL>
                    <a:lnR>
                      <a:noFill/>
                    </a:lnR>
                    <a:lnT>
                      <a:noFill/>
                    </a:lnT>
                    <a:lnB>
                      <a:noFill/>
                    </a:lnB>
                    <a:noFill/>
                  </a:tcPr>
                </a:tc>
              </a:tr>
              <a:tr h="397137">
                <a:tc>
                  <a:txBody>
                    <a:bodyPr/>
                    <a:lstStyle/>
                    <a:p>
                      <a:pPr>
                        <a:buNone/>
                      </a:pPr>
                      <a:r>
                        <a:rPr lang="en-IN" dirty="0"/>
                        <a:t>Monitor physical fitness activities</a:t>
                      </a:r>
                      <a:endParaRPr lang="en-IN" dirty="0"/>
                    </a:p>
                  </a:txBody>
                  <a:tcPr anchor="ctr">
                    <a:lnL>
                      <a:noFill/>
                    </a:lnL>
                    <a:lnR>
                      <a:noFill/>
                    </a:lnR>
                    <a:lnT>
                      <a:noFill/>
                    </a:lnT>
                    <a:lnB>
                      <a:noFill/>
                    </a:lnB>
                    <a:noFill/>
                  </a:tcPr>
                </a:tc>
                <a:tc>
                  <a:txBody>
                    <a:bodyPr/>
                    <a:lstStyle/>
                    <a:p>
                      <a:pPr>
                        <a:buNone/>
                      </a:pPr>
                      <a:r>
                        <a:rPr lang="en-IN"/>
                        <a:t>Encourages students to maintain regular exercise routines.</a:t>
                      </a:r>
                      <a:endParaRPr lang="en-IN"/>
                    </a:p>
                  </a:txBody>
                  <a:tcPr anchor="ctr">
                    <a:lnL>
                      <a:noFill/>
                    </a:lnL>
                    <a:lnR>
                      <a:noFill/>
                    </a:lnR>
                    <a:lnT>
                      <a:noFill/>
                    </a:lnT>
                    <a:lnB>
                      <a:noFill/>
                    </a:lnB>
                    <a:noFill/>
                  </a:tcPr>
                </a:tc>
              </a:tr>
              <a:tr h="696384">
                <a:tc>
                  <a:txBody>
                    <a:bodyPr/>
                    <a:lstStyle/>
                    <a:p>
                      <a:pPr>
                        <a:buNone/>
                      </a:pPr>
                      <a:r>
                        <a:rPr lang="en-IN"/>
                        <a:t>Track sleep patterns</a:t>
                      </a:r>
                      <a:endParaRPr lang="en-IN"/>
                    </a:p>
                  </a:txBody>
                  <a:tcPr anchor="ctr">
                    <a:lnL>
                      <a:noFill/>
                    </a:lnL>
                    <a:lnR>
                      <a:noFill/>
                    </a:lnR>
                    <a:lnT>
                      <a:noFill/>
                    </a:lnT>
                    <a:lnB>
                      <a:noFill/>
                    </a:lnB>
                    <a:noFill/>
                  </a:tcPr>
                </a:tc>
                <a:tc>
                  <a:txBody>
                    <a:bodyPr/>
                    <a:lstStyle/>
                    <a:p>
                      <a:pPr>
                        <a:buNone/>
                      </a:pPr>
                      <a:r>
                        <a:rPr lang="en-IN"/>
                        <a:t>Helps identify unhealthy sleeping habits that affect academic performance.</a:t>
                      </a:r>
                      <a:endParaRPr lang="en-IN"/>
                    </a:p>
                  </a:txBody>
                  <a:tcPr anchor="ctr">
                    <a:lnL>
                      <a:noFill/>
                    </a:lnL>
                    <a:lnR>
                      <a:noFill/>
                    </a:lnR>
                    <a:lnT>
                      <a:noFill/>
                    </a:lnT>
                    <a:lnB>
                      <a:noFill/>
                    </a:lnB>
                    <a:noFill/>
                  </a:tcPr>
                </a:tc>
              </a:tr>
              <a:tr h="696384">
                <a:tc>
                  <a:txBody>
                    <a:bodyPr/>
                    <a:lstStyle/>
                    <a:p>
                      <a:pPr>
                        <a:buNone/>
                      </a:pPr>
                      <a:r>
                        <a:rPr lang="en-IN"/>
                        <a:t>Monitor hydration levels</a:t>
                      </a:r>
                      <a:endParaRPr lang="en-IN"/>
                    </a:p>
                  </a:txBody>
                  <a:tcPr anchor="ctr">
                    <a:lnL>
                      <a:noFill/>
                    </a:lnL>
                    <a:lnR>
                      <a:noFill/>
                    </a:lnR>
                    <a:lnT>
                      <a:noFill/>
                    </a:lnT>
                    <a:lnB>
                      <a:noFill/>
                    </a:lnB>
                    <a:noFill/>
                  </a:tcPr>
                </a:tc>
                <a:tc>
                  <a:txBody>
                    <a:bodyPr/>
                    <a:lstStyle/>
                    <a:p>
                      <a:pPr>
                        <a:buNone/>
                      </a:pPr>
                      <a:r>
                        <a:rPr lang="en-IN"/>
                        <a:t>Promotes adequate water consumption for better health.</a:t>
                      </a:r>
                      <a:endParaRPr lang="en-IN"/>
                    </a:p>
                  </a:txBody>
                  <a:tcPr anchor="ctr">
                    <a:lnL>
                      <a:noFill/>
                    </a:lnL>
                    <a:lnR>
                      <a:noFill/>
                    </a:lnR>
                    <a:lnT>
                      <a:noFill/>
                    </a:lnT>
                    <a:lnB>
                      <a:noFill/>
                    </a:lnB>
                    <a:noFill/>
                  </a:tcPr>
                </a:tc>
              </a:tr>
              <a:tr h="696384">
                <a:tc>
                  <a:txBody>
                    <a:bodyPr/>
                    <a:lstStyle/>
                    <a:p>
                      <a:pPr>
                        <a:buNone/>
                      </a:pPr>
                      <a:r>
                        <a:rPr lang="en-IN"/>
                        <a:t>Track calorie intake and nutrition</a:t>
                      </a:r>
                      <a:endParaRPr lang="en-IN"/>
                    </a:p>
                  </a:txBody>
                  <a:tcPr anchor="ctr">
                    <a:lnL>
                      <a:noFill/>
                    </a:lnL>
                    <a:lnR>
                      <a:noFill/>
                    </a:lnR>
                    <a:lnT>
                      <a:noFill/>
                    </a:lnT>
                    <a:lnB>
                      <a:noFill/>
                    </a:lnB>
                    <a:noFill/>
                  </a:tcPr>
                </a:tc>
                <a:tc>
                  <a:txBody>
                    <a:bodyPr/>
                    <a:lstStyle/>
                    <a:p>
                      <a:pPr>
                        <a:buNone/>
                      </a:pPr>
                      <a:r>
                        <a:rPr lang="en-IN"/>
                        <a:t>Encourages healthy eating habits and balanced diets.</a:t>
                      </a:r>
                      <a:endParaRPr lang="en-IN"/>
                    </a:p>
                  </a:txBody>
                  <a:tcPr anchor="ctr">
                    <a:lnL>
                      <a:noFill/>
                    </a:lnL>
                    <a:lnR>
                      <a:noFill/>
                    </a:lnR>
                    <a:lnT>
                      <a:noFill/>
                    </a:lnT>
                    <a:lnB>
                      <a:noFill/>
                    </a:lnB>
                    <a:noFill/>
                  </a:tcPr>
                </a:tc>
              </a:tr>
              <a:tr h="696384">
                <a:tc>
                  <a:txBody>
                    <a:bodyPr/>
                    <a:lstStyle/>
                    <a:p>
                      <a:pPr>
                        <a:buNone/>
                      </a:pPr>
                      <a:r>
                        <a:rPr lang="en-IN"/>
                        <a:t>Monitor mood and mental wellness</a:t>
                      </a:r>
                      <a:endParaRPr lang="en-IN"/>
                    </a:p>
                  </a:txBody>
                  <a:tcPr anchor="ctr">
                    <a:lnL>
                      <a:noFill/>
                    </a:lnL>
                    <a:lnR>
                      <a:noFill/>
                    </a:lnR>
                    <a:lnT>
                      <a:noFill/>
                    </a:lnT>
                    <a:lnB>
                      <a:noFill/>
                    </a:lnB>
                    <a:noFill/>
                  </a:tcPr>
                </a:tc>
                <a:tc>
                  <a:txBody>
                    <a:bodyPr/>
                    <a:lstStyle/>
                    <a:p>
                      <a:pPr>
                        <a:buNone/>
                      </a:pPr>
                      <a:r>
                        <a:rPr lang="en-IN"/>
                        <a:t>Helps students identify stress patterns and emotional changes.</a:t>
                      </a:r>
                      <a:endParaRPr lang="en-IN"/>
                    </a:p>
                  </a:txBody>
                  <a:tcPr anchor="ctr">
                    <a:lnL>
                      <a:noFill/>
                    </a:lnL>
                    <a:lnR>
                      <a:noFill/>
                    </a:lnR>
                    <a:lnT>
                      <a:noFill/>
                    </a:lnT>
                    <a:lnB>
                      <a:noFill/>
                    </a:lnB>
                    <a:noFill/>
                  </a:tcPr>
                </a:tc>
              </a:tr>
              <a:tr h="696384">
                <a:tc>
                  <a:txBody>
                    <a:bodyPr/>
                    <a:lstStyle/>
                    <a:p>
                      <a:pPr>
                        <a:buNone/>
                      </a:pPr>
                      <a:r>
                        <a:rPr lang="en-IN"/>
                        <a:t>Generate health reports</a:t>
                      </a:r>
                      <a:endParaRPr lang="en-IN"/>
                    </a:p>
                  </a:txBody>
                  <a:tcPr anchor="ctr">
                    <a:lnL>
                      <a:noFill/>
                    </a:lnL>
                    <a:lnR>
                      <a:noFill/>
                    </a:lnR>
                    <a:lnT>
                      <a:noFill/>
                    </a:lnT>
                    <a:lnB>
                      <a:noFill/>
                    </a:lnB>
                    <a:noFill/>
                  </a:tcPr>
                </a:tc>
                <a:tc>
                  <a:txBody>
                    <a:bodyPr/>
                    <a:lstStyle/>
                    <a:p>
                      <a:pPr>
                        <a:buNone/>
                      </a:pPr>
                      <a:r>
                        <a:rPr lang="en-IN"/>
                        <a:t>Provides valuable insights into overall wellness progress.</a:t>
                      </a:r>
                      <a:endParaRPr lang="en-IN"/>
                    </a:p>
                  </a:txBody>
                  <a:tcPr anchor="ctr">
                    <a:lnL>
                      <a:noFill/>
                    </a:lnL>
                    <a:lnR>
                      <a:noFill/>
                    </a:lnR>
                    <a:lnT>
                      <a:noFill/>
                    </a:lnT>
                    <a:lnB>
                      <a:noFill/>
                    </a:lnB>
                    <a:noFill/>
                  </a:tcPr>
                </a:tc>
              </a:tr>
              <a:tr h="696384">
                <a:tc>
                  <a:txBody>
                    <a:bodyPr/>
                    <a:lstStyle/>
                    <a:p>
                      <a:pPr>
                        <a:buNone/>
                      </a:pPr>
                      <a:r>
                        <a:rPr lang="en-IN"/>
                        <a:t>Promote healthy lifestyle habits</a:t>
                      </a:r>
                      <a:endParaRPr lang="en-IN"/>
                    </a:p>
                  </a:txBody>
                  <a:tcPr anchor="ctr">
                    <a:lnL>
                      <a:noFill/>
                    </a:lnL>
                    <a:lnR>
                      <a:noFill/>
                    </a:lnR>
                    <a:lnT>
                      <a:noFill/>
                    </a:lnT>
                    <a:lnB>
                      <a:noFill/>
                    </a:lnB>
                    <a:noFill/>
                  </a:tcPr>
                </a:tc>
                <a:tc>
                  <a:txBody>
                    <a:bodyPr/>
                    <a:lstStyle/>
                    <a:p>
                      <a:pPr>
                        <a:buNone/>
                      </a:pPr>
                      <a:r>
                        <a:rPr lang="en-IN"/>
                        <a:t>Supports long-term physical and mental well-being.</a:t>
                      </a:r>
                      <a:endParaRPr lang="en-IN"/>
                    </a:p>
                  </a:txBody>
                  <a:tcPr anchor="ctr">
                    <a:lnL>
                      <a:noFill/>
                    </a:lnL>
                    <a:lnR>
                      <a:noFill/>
                    </a:lnR>
                    <a:lnT>
                      <a:noFill/>
                    </a:lnT>
                    <a:lnB>
                      <a:noFill/>
                    </a:lnB>
                    <a:noFill/>
                  </a:tcPr>
                </a:tc>
              </a:tr>
              <a:tr h="696384">
                <a:tc>
                  <a:txBody>
                    <a:bodyPr/>
                    <a:lstStyle/>
                    <a:p>
                      <a:pPr>
                        <a:buNone/>
                      </a:pPr>
                      <a:r>
                        <a:rPr lang="en-IN" dirty="0"/>
                        <a:t>Objective</a:t>
                      </a:r>
                      <a:endParaRPr lang="en-IN" dirty="0"/>
                    </a:p>
                  </a:txBody>
                  <a:tcPr anchor="ctr">
                    <a:lnL>
                      <a:noFill/>
                    </a:lnL>
                    <a:lnR>
                      <a:noFill/>
                    </a:lnR>
                    <a:lnT>
                      <a:noFill/>
                    </a:lnT>
                    <a:lnB>
                      <a:noFill/>
                    </a:lnB>
                    <a:noFill/>
                  </a:tcPr>
                </a:tc>
                <a:tc>
                  <a:txBody>
                    <a:bodyPr/>
                    <a:lstStyle/>
                    <a:p>
                      <a:pPr>
                        <a:buNone/>
                      </a:pPr>
                      <a:r>
                        <a:rPr lang="en-IN" dirty="0"/>
                        <a:t>Justification</a:t>
                      </a:r>
                      <a:endParaRPr lang="en-IN" dirty="0"/>
                    </a:p>
                  </a:txBody>
                  <a:tcPr anchor="ctr">
                    <a:lnL>
                      <a:noFill/>
                    </a:lnL>
                    <a:lnR>
                      <a:noFill/>
                    </a:lnR>
                    <a:lnT>
                      <a:noFill/>
                    </a:lnT>
                    <a:lnB>
                      <a:noFill/>
                    </a:lnB>
                    <a:noFill/>
                  </a:tcPr>
                </a:tc>
              </a:tr>
            </a:tbl>
          </a:graphicData>
        </a:graphic>
      </p:graphicFrame>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300" y="42672"/>
            <a:ext cx="7467600" cy="9906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 [Frontend web pages]</a:t>
            </a:r>
            <a:endParaRPr lang="en-US" sz="2800" b="1" dirty="0">
              <a:solidFill>
                <a:srgbClr val="0070C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3" name="Rectangle 1"/>
          <p:cNvSpPr>
            <a:spLocks noGrp="1" noChangeArrowheads="1"/>
          </p:cNvSpPr>
          <p:nvPr>
            <p:ph idx="1"/>
          </p:nvPr>
        </p:nvSpPr>
        <p:spPr bwMode="auto">
          <a:xfrm>
            <a:off x="457200" y="804243"/>
            <a:ext cx="8229600" cy="603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FontTx/>
              <a:buChar char="•"/>
            </a:pPr>
            <a:r>
              <a:rPr lang="en-IN" sz="1600" dirty="0">
                <a:cs typeface="Arial" panose="020B0604020202020204" pitchFamily="34" charset="0"/>
              </a:rPr>
              <a:t>Home Page  </a:t>
            </a:r>
            <a:endParaRPr lang="en-IN" sz="1600" dirty="0">
              <a:cs typeface="Arial" panose="020B0604020202020204" pitchFamily="34" charset="0"/>
            </a:endParaRPr>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spcBef>
                <a:spcPct val="0"/>
              </a:spcBef>
              <a:spcAft>
                <a:spcPct val="0"/>
              </a:spcAft>
              <a:buFontTx/>
              <a:buChar char="•"/>
            </a:pPr>
            <a:r>
              <a:rPr lang="en-IN" altLang="en-US" sz="1600" dirty="0"/>
              <a:t>Login Page</a:t>
            </a:r>
            <a:endParaRPr lang="en-IN" altLang="en-US"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Registration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Dashboard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Fitness Tracker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Sleep Tracker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Water Intake Tracker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Nutrition Tracker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Mood Tracker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Reports &amp; Analytics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Profile Page</a:t>
            </a:r>
            <a:endParaRPr lang="en-IN" sz="1600" dirty="0"/>
          </a:p>
          <a:p>
            <a:pPr marL="0" lvl="0" indent="0" eaLnBrk="0" fontAlgn="base" hangingPunct="0">
              <a:spcBef>
                <a:spcPct val="0"/>
              </a:spcBef>
              <a:spcAft>
                <a:spcPct val="0"/>
              </a:spcAft>
              <a:buFontTx/>
              <a:buChar char="•"/>
            </a:pPr>
            <a:endParaRPr kumimoji="0" lang="en-IN" altLang="en-US" sz="1600" b="0" i="0" u="none" strike="noStrike" cap="none" normalizeH="0" baseline="0" dirty="0">
              <a:ln>
                <a:noFill/>
              </a:ln>
              <a:solidFill>
                <a:schemeClr val="tx1"/>
              </a:solidFill>
              <a:effectLst/>
            </a:endParaRPr>
          </a:p>
          <a:p>
            <a:pPr marL="0" lvl="0" indent="0" eaLnBrk="0" fontAlgn="base" hangingPunct="0">
              <a:spcBef>
                <a:spcPct val="0"/>
              </a:spcBef>
              <a:spcAft>
                <a:spcPct val="0"/>
              </a:spcAft>
              <a:buFontTx/>
              <a:buChar char="•"/>
            </a:pPr>
            <a:r>
              <a:rPr lang="en-IN" sz="1600" dirty="0"/>
              <a:t>Contact/About Page</a:t>
            </a:r>
            <a:endParaRPr kumimoji="0" lang="en-US" altLang="en-US" sz="1600" b="0" i="0" u="none" strike="noStrike" cap="none" normalizeH="0" baseline="0" dirty="0">
              <a:ln>
                <a:noFill/>
              </a:ln>
              <a:solidFill>
                <a:schemeClr val="tx1"/>
              </a:solidFill>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990600"/>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876300" y="2133600"/>
            <a:ext cx="7620000" cy="3962399"/>
          </a:xfrm>
        </p:spPr>
        <p:txBody>
          <a:bodyPr>
            <a:normAutofit/>
          </a:bodyPr>
          <a:lstStyle/>
          <a:p>
            <a:r>
              <a:rPr lang="en-IN" sz="2400" dirty="0"/>
              <a:t>Improved awareness of personal health and wellness. </a:t>
            </a:r>
            <a:endParaRPr lang="en-IN" sz="2400" dirty="0"/>
          </a:p>
          <a:p>
            <a:r>
              <a:rPr lang="en-IN" sz="2400" dirty="0"/>
              <a:t>Better management of fitness and daily activities. </a:t>
            </a:r>
            <a:endParaRPr lang="en-IN" sz="2400" dirty="0"/>
          </a:p>
          <a:p>
            <a:r>
              <a:rPr lang="en-IN" sz="2400" dirty="0"/>
              <a:t>Increased physical activity among students. </a:t>
            </a:r>
            <a:endParaRPr lang="en-IN" sz="2400" dirty="0"/>
          </a:p>
          <a:p>
            <a:r>
              <a:rPr lang="en-IN" sz="2400" dirty="0"/>
              <a:t>Improved sleep quality and hydration habits. </a:t>
            </a:r>
            <a:endParaRPr lang="en-IN" sz="2400" dirty="0"/>
          </a:p>
          <a:p>
            <a:r>
              <a:rPr lang="en-IN" sz="2400" dirty="0"/>
              <a:t>Better stress management through mood tracking. </a:t>
            </a:r>
            <a:endParaRPr lang="en-IN" sz="2400" dirty="0"/>
          </a:p>
          <a:p>
            <a:r>
              <a:rPr lang="en-IN" sz="2400" dirty="0"/>
              <a:t>Availability of personalized health insights and recommendations. </a:t>
            </a:r>
            <a:endParaRPr lang="en-IN" sz="2400" dirty="0"/>
          </a:p>
          <a:p>
            <a:r>
              <a:rPr lang="en-IN" sz="2400" dirty="0"/>
              <a:t>Enhanced overall well-being and academic productivity. </a:t>
            </a:r>
            <a:endParaRPr lang="en-IN" sz="2400" dirty="0"/>
          </a:p>
          <a:p>
            <a:endParaRPr lang="en-IN" sz="16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685800"/>
            <a:ext cx="7696200" cy="685800"/>
          </a:xfrm>
        </p:spPr>
        <p:txBody>
          <a:bodyPr>
            <a:noAutofit/>
          </a:bodyPr>
          <a:lstStyle/>
          <a:p>
            <a:r>
              <a:rPr lang="en-US" sz="4000" b="1" dirty="0">
                <a:solidFill>
                  <a:srgbClr val="0070C0"/>
                </a:solidFill>
                <a:latin typeface="Times New Roman" panose="02020603050405020304" pitchFamily="18" charset="0"/>
                <a:cs typeface="Times New Roman" panose="02020603050405020304" pitchFamily="18" charset="0"/>
              </a:rPr>
              <a:t>Conclusion and Future Scope</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28600" y="1676399"/>
            <a:ext cx="8839200" cy="5089525"/>
          </a:xfrm>
        </p:spPr>
        <p:txBody>
          <a:bodyPr>
            <a:normAutofit fontScale="92500" lnSpcReduction="20000"/>
          </a:bodyPr>
          <a:lstStyle/>
          <a:p>
            <a:pPr marL="0" indent="0">
              <a:buNone/>
            </a:pPr>
            <a:r>
              <a:rPr lang="en-IN" sz="1700" b="1" dirty="0"/>
              <a:t>Conclusion</a:t>
            </a:r>
            <a:endParaRPr lang="en-IN" sz="1700" b="1" dirty="0"/>
          </a:p>
          <a:p>
            <a:pPr marL="0" indent="0">
              <a:buNone/>
            </a:pPr>
            <a:endParaRPr lang="en-IN" sz="1700" dirty="0"/>
          </a:p>
          <a:p>
            <a:pPr marL="0" indent="0">
              <a:buNone/>
            </a:pPr>
            <a:r>
              <a:rPr lang="en-IN" sz="1700" dirty="0"/>
              <a:t>The Student Wellness &amp; Fitness Tracker provides a comprehensive solution for monitoring and improving student health and wellness. By integrating fitness tracking, wellness monitoring, goal management, and progress analysis into a single platform, the system encourages students to adopt healthier lifestyles. The application helps users maintain consistency in their wellness activities while providing valuable insights into their overall health. The successful implementation of this project can significantly contribute to improving student well-being, productivity, and academic performance.</a:t>
            </a:r>
            <a:endParaRPr lang="en-IN" sz="1700" dirty="0"/>
          </a:p>
          <a:p>
            <a:pPr marL="0" indent="0">
              <a:buNone/>
            </a:pPr>
            <a:br>
              <a:rPr lang="en-IN" sz="1700" dirty="0"/>
            </a:br>
            <a:r>
              <a:rPr lang="en-IN" sz="1700" b="1" dirty="0"/>
              <a:t>Future Scope</a:t>
            </a:r>
            <a:endParaRPr lang="en-IN" sz="1700" b="1" dirty="0"/>
          </a:p>
          <a:p>
            <a:r>
              <a:rPr lang="en-IN" sz="1700" dirty="0"/>
              <a:t>Integration with wearable fitness devices. </a:t>
            </a:r>
            <a:endParaRPr lang="en-IN" sz="1700" dirty="0"/>
          </a:p>
          <a:p>
            <a:r>
              <a:rPr lang="en-IN" sz="1700" dirty="0"/>
              <a:t>AI-based personalized health recommendations. </a:t>
            </a:r>
            <a:endParaRPr lang="en-IN" sz="1700" dirty="0"/>
          </a:p>
          <a:p>
            <a:r>
              <a:rPr lang="en-IN" sz="1700" dirty="0"/>
              <a:t>Real-time health monitoring. </a:t>
            </a:r>
            <a:endParaRPr lang="en-IN" sz="1700" dirty="0"/>
          </a:p>
          <a:p>
            <a:r>
              <a:rPr lang="en-IN" sz="1700" dirty="0"/>
              <a:t>Mobile application development for Android and iOS. </a:t>
            </a:r>
            <a:endParaRPr lang="en-IN" sz="1700" dirty="0"/>
          </a:p>
          <a:p>
            <a:r>
              <a:rPr lang="en-IN" sz="1700" dirty="0"/>
              <a:t>Integration with college wellness programs. </a:t>
            </a:r>
            <a:endParaRPr lang="en-IN" sz="1700" dirty="0"/>
          </a:p>
          <a:p>
            <a:r>
              <a:rPr lang="en-IN" sz="1700" dirty="0"/>
              <a:t>Mental health assessment and </a:t>
            </a:r>
            <a:r>
              <a:rPr lang="en-IN" sz="1700" dirty="0" err="1"/>
              <a:t>counseling</a:t>
            </a:r>
            <a:r>
              <a:rPr lang="en-IN" sz="1700" dirty="0"/>
              <a:t> support. </a:t>
            </a:r>
            <a:endParaRPr lang="en-IN" sz="1700" dirty="0"/>
          </a:p>
          <a:p>
            <a:r>
              <a:rPr lang="en-IN" sz="1700" dirty="0"/>
              <a:t>Social fitness challenges and group activities. </a:t>
            </a:r>
            <a:endParaRPr lang="en-IN" sz="1700" dirty="0"/>
          </a:p>
          <a:p>
            <a:r>
              <a:rPr lang="en-IN" sz="1700" dirty="0"/>
              <a:t>Gamification features such as rewards and achievement badges. </a:t>
            </a:r>
            <a:endParaRPr lang="en-IN" sz="1700" dirty="0"/>
          </a:p>
          <a:p>
            <a:r>
              <a:rPr lang="en-IN" sz="1700" dirty="0"/>
              <a:t>Cloud-based health data synchronization. </a:t>
            </a:r>
            <a:endParaRPr lang="en-IN" sz="1700" dirty="0"/>
          </a:p>
          <a:p>
            <a:r>
              <a:rPr lang="en-IN" sz="1700" dirty="0"/>
              <a:t>Emergency health alert system. </a:t>
            </a:r>
            <a:endParaRPr lang="en-IN" sz="1700" dirty="0"/>
          </a:p>
          <a:p>
            <a:pPr marL="0" indent="0">
              <a:buNone/>
            </a:pPr>
            <a:endParaRPr lang="en-IN" sz="1700"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endParaRPr lang="en-US" sz="2800" b="1" dirty="0">
              <a:solidFill>
                <a:srgbClr val="0070C0"/>
              </a:solidFill>
              <a:latin typeface="Times New Roman" panose="02020603050405020304" pitchFamily="18" charset="0"/>
              <a:cs typeface="Times New Roman" panose="02020603050405020304" pitchFamily="18" charset="0"/>
            </a:endParaRPr>
          </a:p>
        </p:txBody>
      </p:sp>
      <p:pic>
        <p:nvPicPr>
          <p:cNvPr id="3" name="Content Placeholder 2"/>
          <p:cNvPicPr>
            <a:picLocks noChangeAspect="1"/>
          </p:cNvPicPr>
          <p:nvPr>
            <p:ph idx="1"/>
          </p:nvPr>
        </p:nvPicPr>
        <p:blipFill>
          <a:blip r:embed="rId1"/>
          <a:stretch>
            <a:fillRect/>
          </a:stretch>
        </p:blipFill>
        <p:spPr>
          <a:xfrm>
            <a:off x="1028065" y="1705610"/>
            <a:ext cx="7086600" cy="4314825"/>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5895</Words>
  <Application>WPS Presentation</Application>
  <PresentationFormat>On-screen Show (4:3)</PresentationFormat>
  <Paragraphs>175</Paragraphs>
  <Slides>15</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Times New Roman</vt:lpstr>
      <vt:lpstr>Aptos</vt:lpstr>
      <vt:lpstr>Segoe UI</vt:lpstr>
      <vt:lpstr>Microsoft YaHei</vt:lpstr>
      <vt:lpstr>Arial Unicode MS</vt:lpstr>
      <vt:lpstr>Calibri</vt:lpstr>
      <vt:lpstr>Office Theme</vt:lpstr>
      <vt:lpstr>PowerPoint 演示文稿</vt:lpstr>
      <vt:lpstr>Outline of the Presentation</vt:lpstr>
      <vt:lpstr>Abstract</vt:lpstr>
      <vt:lpstr>Introduction</vt:lpstr>
      <vt:lpstr>PowerPoint 演示文稿</vt:lpstr>
      <vt:lpstr>PowerPoint 演示文稿</vt:lpstr>
      <vt:lpstr>PowerPoint 演示文稿</vt:lpstr>
      <vt:lpstr>Problem Statement</vt:lpstr>
      <vt:lpstr>Project Flow Diagram</vt:lpstr>
      <vt:lpstr>Objectives with Justification </vt:lpstr>
      <vt:lpstr>Modules [Frontend web pages]</vt:lpstr>
      <vt:lpstr>Expected Outcomes of the Proposed Work </vt:lpstr>
      <vt:lpstr>Conclusion and Future Scope</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satis</cp:lastModifiedBy>
  <cp:revision>202</cp:revision>
  <dcterms:created xsi:type="dcterms:W3CDTF">2006-08-16T00:00:00Z</dcterms:created>
  <dcterms:modified xsi:type="dcterms:W3CDTF">2026-06-19T05:10:07Z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BB48294D9F2E4CA8981079AB7ECD7F1E_13</vt:lpwstr>
  </property>
</Properties>
</file>